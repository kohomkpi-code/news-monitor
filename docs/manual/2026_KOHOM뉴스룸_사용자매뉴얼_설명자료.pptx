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목차" id="{a27a1a7e-2f09-283f-f802-bbc314ff0517}">
          <p14:sldIdLst>
            <p14:sldId id="256"/>
            <p14:sldId id="257"/>
          </p14:sldIdLst>
        </p14:section>
        <p14:section name="01 시작하기" id="{3e470b56-2459-3300-645c-08d7203aa1e0}">
          <p14:sldIdLst>
            <p14:sldId id="258"/>
            <p14:sldId id="259"/>
            <p14:sldId id="260"/>
          </p14:sldIdLst>
        </p14:section>
        <p14:section name="02 베이직" id="{bc84fb11-ddb1-369e-0cc2-c619af820f82}">
          <p14:sldIdLst>
            <p14:sldId id="261"/>
            <p14:sldId id="262"/>
            <p14:sldId id="263"/>
            <p14:sldId id="264"/>
            <p14:sldId id="265"/>
          </p14:sldIdLst>
        </p14:section>
        <p14:section name="03 프로" id="{c63a8642-14ab-0701-47af-63caf5e6980e}">
          <p14:sldIdLst>
            <p14:sldId id="266"/>
            <p14:sldId id="267"/>
            <p14:sldId id="268"/>
            <p14:sldId id="269"/>
            <p14:sldId id="270"/>
          </p14:sldIdLst>
        </p14:section>
        <p14:section name="04 선정 규칙" id="{8e9cc227-0659-c91f-23f1-340a0a6b8d75}">
          <p14:sldIdLst>
            <p14:sldId id="271"/>
            <p14:sldId id="272"/>
            <p14:sldId id="273"/>
          </p14:sldIdLst>
        </p14:section>
        <p14:section name="05 설정" id="{fb2d560a-ed30-7fad-0067-9d35fe651573}">
          <p14:sldIdLst>
            <p14:sldId id="274"/>
            <p14:sldId id="275"/>
          </p14:sldIdLst>
        </p14:section>
        <p14:section name="06 문제 해결" id="{34732ea0-56a5-f511-6d11-b307466aadcc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이 매뉴얼은 KOHOM 뉴스룸 v1.0.8 화면을 기준으로 합니다. 화면 속 기사는 시연용으로 만든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01~02는 모든 사용자, 03~05는 언론보도 담당자, 06은 문제가 생겼을 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 전체 흐름. 모으기부터 기록까지 6단계이고, 아래 환류는 담당자가 규칙을 개선하는 고리입니다. 자세한 것은 04장.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설치. 윈도우 경고(SmartScreen)는 자동 촬영 PC에서 뜨지 않아 화면을 넣지 못했습니다. 처음 실행할 때 경고 창을 찍어(Win+Shift+S) 오른쪽 점선 자리에 넣고 자리표시자는 지워 주세요. 권장 크기 4.3×5.0in.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구성. 탭은 베이직·프로·보고 기록·선정 규칙·설정 다섯 개입니다. 처음 켜면 베이직 탭이 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조회. 키워드가 67개라 1~2분 걸릴 수 있습니다(추정). 정지는 조회 중에만 켜집니다. 멈추면 모은 결과는 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추천 확인. 줄 바탕색: 연한 주황 = 공단(A) 기사, 연한 청록 = 직접 추가. 기사 제목을 더블클릭하면 원문이 열립니다. 끌어 놓기는 체크 칸이 아닌 곳을 잡고 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보고서. 복사한 본문은 글자 크기 16px로 그룹웨어에 붙습니다. 원문 주소를 못 찾은 기사는 구글 경유 주소로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그룹웨어 화면은 사내 시스템이라 자동 촬영을 못 했습니다. 편지쓰기 화면을 찍어 왼쪽 점선 자리에 넣고 자리표시자는 지워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 기록. [④ 보고 완료로 기록]을 누르면 이 탭에 쌓입니다. 앱을 쓰기 전에 보낸 메일도 불러올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 탭. 처음에는 후보 전체가 선택된 채로 나옵니다. 베이직과 같은 기사를 보지만 선택은 따로입니다.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등급과 분류. 점수는 선정 규칙 탭에서 바꿀 수 있습니다. 리스크어는 공단 관련 주제와 함께 있을 때만 점수가 붙어, 일반 뉴스의 '화재'·'수사'에는 붙지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선별. 번호는 표의 '순번'과 같아서, Claude가 말하는 번호를 표에서 바로 찾을 수 있습니다. 답변 전체를 붙여 넣어도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 정하기. 보고서는 표에 보이는 순서(체크한 기사만)를 따릅니다. 정렬 머리글을 누르면 순서가 다시 바뀌니, 순서를 정한 뒤에는 머리글을 누르지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엑셀. 며칠 치를 모아 Claude에 보내면 개선안이 더 정확합니다. 엑셀 화면은 자동 촬영 PC에 엑셀이 없어 표로 대신했습니다.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키워드 쓰는 법: 한 줄에 하나. 띄어 쓴 말은 같은 순서로 20자 안에 있으면 맞음(공동주택 관리비). 같은 뜻은 OR로 한 줄에(승강기 OR 엘리베이터). -말은 빼기(임대주택 -민간임대). "따옴표"는 문구 그대로.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점수와 추천 기준. 감점은 음수로 적습니다. 공고 기사(공단 기사 제외)와 지사명만 있는 기사(A?)는 추천하지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환류. 변경 이력은 선정 규칙 탭 맨 아래에 최근 3건, 전체는 [변경 이력 보기]. 마음에 안 들면 [기본값으로]나 규칙 파일 불러오기로 되돌릴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설정. 네이버 API는 키가 있을 때만 씁니다(신규 발급 종료). 모든 값은 이 PC에만 저장되고 어디로도 보내지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전문지 고르기. 국내 신문사 다수가 같은 기사관리 프로그램을 써서 홈페이지 주소 + /rss/allArticle.xml이 RSS 주소입니다. 안 되면 신문사 홈페이지 맨 아래 RSS 메뉴에서 주소를 복사해 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해결. 해결이 안 되면 상태줄 문구와 화면을 찍어 전략과로 보내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필요 사항. 자리표시자 2곳은 보고 전 화면을 넣거나 지워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앰버 세로 블록"/>
          <p:cNvSpPr/>
          <p:nvPr/>
        </p:nvSpPr>
        <p:spPr>
          <a:xfrm>
            <a:off x="914400" y="1828800"/>
            <a:ext cx="146304" cy="24688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258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600" dirty="0">
                <a:solidFill>
                  <a:srgbClr val="C9D6E3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언론보도 모니터링 앱</a:t>
            </a:r>
            <a:endParaRPr lang="ko-KR" alt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2402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KOHOM 뉴스룸 사용자 매뉴얼</a:t>
            </a:r>
            <a:endParaRPr lang="ko-KR" alt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600" dirty="0">
                <a:solidFill>
                  <a:srgbClr val="DCE5EE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설치부터 매일 보고, AI 선별, 선정 규칙 환류까지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840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C9D6E3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2026. 10. 26. · 앱 v1.0.8 기준 · 주택관리공단 전략과</a:t>
            </a:r>
            <a:endParaRPr lang="ko-KR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6172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950" dirty="0">
                <a:solidFill>
                  <a:srgbClr val="AFC0D1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※ 화면은 설명을 위한 시연 기사로 촬영했습니다. 실제 화면의 기사·건수는 다를 수 있으며, 수치·문구는 앱 화면이 우선합니다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00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목차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 매뉴얼의 순서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처음 쓰는 직원은 01·02만 읽어도 매일 보고를 할 수 있습니다</a:t>
            </a:r>
            <a:endParaRPr lang="ko-KR" altLang="en-US" sz="1200" dirty="0"/>
          </a:p>
        </p:txBody>
      </p:sp>
      <p:sp>
        <p:nvSpPr>
          <p:cNvPr id="7" name="카드 01 시작하기"/>
          <p:cNvSpPr/>
          <p:nvPr/>
        </p:nvSpPr>
        <p:spPr>
          <a:xfrm>
            <a:off x="548640" y="1783080"/>
            <a:ext cx="3547872" cy="2011680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8" name="Image 0" descr="01 시작하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91740"/>
            <a:ext cx="594360" cy="5943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20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01 시작하기</a:t>
            </a:r>
            <a:endParaRPr lang="ko-KR" alt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386584"/>
            <a:ext cx="2359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설치·첫 실행·화면 구성</a:t>
            </a:r>
            <a:endParaRPr lang="ko-KR" altLang="en-US" sz="1400" dirty="0"/>
          </a:p>
        </p:txBody>
      </p:sp>
      <p:sp>
        <p:nvSpPr>
          <p:cNvPr id="11" name="카드 02 베이직"/>
          <p:cNvSpPr/>
          <p:nvPr/>
        </p:nvSpPr>
        <p:spPr>
          <a:xfrm>
            <a:off x="4297680" y="1783080"/>
            <a:ext cx="3547872" cy="2011680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2" name="Image 1" descr="02 베이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49174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20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02 베이직</a:t>
            </a:r>
            <a:endParaRPr lang="ko-KR" alt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2386584"/>
            <a:ext cx="2359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조회 → 추천 확인 → 보고서 → 기록</a:t>
            </a:r>
            <a:endParaRPr lang="ko-KR" altLang="en-US" sz="1400" dirty="0"/>
          </a:p>
        </p:txBody>
      </p:sp>
      <p:sp>
        <p:nvSpPr>
          <p:cNvPr id="15" name="카드 03 프로"/>
          <p:cNvSpPr/>
          <p:nvPr/>
        </p:nvSpPr>
        <p:spPr>
          <a:xfrm>
            <a:off x="8046720" y="1783080"/>
            <a:ext cx="3547872" cy="2011680"/>
          </a:xfrm>
          <a:prstGeom prst="roundRect">
            <a:avLst>
              <a:gd name="adj" fmla="val 4545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16" name="Image 2" descr="03 프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49174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20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03 프로</a:t>
            </a:r>
            <a:endParaRPr lang="ko-KR" alt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2386584"/>
            <a:ext cx="2359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AI 선별·순서 정하기·결과 엑셀</a:t>
            </a:r>
            <a:endParaRPr lang="ko-KR" altLang="en-US" sz="1400" dirty="0"/>
          </a:p>
        </p:txBody>
      </p:sp>
      <p:sp>
        <p:nvSpPr>
          <p:cNvPr id="19" name="카드 04 선정 규칙"/>
          <p:cNvSpPr/>
          <p:nvPr/>
        </p:nvSpPr>
        <p:spPr>
          <a:xfrm>
            <a:off x="548640" y="4023360"/>
            <a:ext cx="3547872" cy="2011680"/>
          </a:xfrm>
          <a:prstGeom prst="roundRect">
            <a:avLst>
              <a:gd name="adj" fmla="val 4545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20" name="Image 3" descr="04 선정 규칙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732020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224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20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04 선정 규칙</a:t>
            </a:r>
            <a:endParaRPr lang="ko-KR" alt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1554480" y="4626864"/>
            <a:ext cx="2359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키워드·점수·추천 기준과 환류</a:t>
            </a:r>
            <a:endParaRPr lang="ko-KR" altLang="en-US" sz="1400" dirty="0"/>
          </a:p>
        </p:txBody>
      </p:sp>
      <p:sp>
        <p:nvSpPr>
          <p:cNvPr id="23" name="카드 05 설정"/>
          <p:cNvSpPr/>
          <p:nvPr/>
        </p:nvSpPr>
        <p:spPr>
          <a:xfrm>
            <a:off x="4297680" y="4023360"/>
            <a:ext cx="3547872" cy="2011680"/>
          </a:xfrm>
          <a:prstGeom prst="roundRect">
            <a:avLst>
              <a:gd name="adj" fmla="val 4545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24" name="Image 4" descr="05 설정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732020"/>
            <a:ext cx="594360" cy="5943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03520" y="4224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20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05 설정</a:t>
            </a:r>
            <a:endParaRPr lang="ko-KR" alt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5303520" y="4626864"/>
            <a:ext cx="2359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기사 출처·전문지·보고서·공휴일</a:t>
            </a:r>
            <a:endParaRPr lang="ko-KR" altLang="en-US" sz="1400" dirty="0"/>
          </a:p>
        </p:txBody>
      </p:sp>
      <p:sp>
        <p:nvSpPr>
          <p:cNvPr id="27" name="카드 06 문제 해결"/>
          <p:cNvSpPr/>
          <p:nvPr/>
        </p:nvSpPr>
        <p:spPr>
          <a:xfrm>
            <a:off x="8046720" y="4023360"/>
            <a:ext cx="3547872" cy="2011680"/>
          </a:xfrm>
          <a:prstGeom prst="roundRect">
            <a:avLst>
              <a:gd name="adj" fmla="val 4545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pic>
        <p:nvPicPr>
          <p:cNvPr id="28" name="Image 5" descr="06 문제 해결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732020"/>
            <a:ext cx="594360" cy="5943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052560" y="4224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20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06 문제 해결</a:t>
            </a:r>
            <a:endParaRPr lang="ko-KR" alt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9052560" y="4626864"/>
            <a:ext cx="2359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자주 묻는 것·확인 필요 사항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01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시작하기 · 한눈에 보기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앱이 하는 일: 모으고, 거르고, 골라서, 보고서로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구글 뉴스·전문지에서 기사를 모아 선정 규칙으로 점수를 매기고, 추천 5건을 메일 보고서로 만듭니다</a:t>
            </a:r>
            <a:endParaRPr lang="ko-KR" altLang="en-US" sz="1200" dirty="0"/>
          </a:p>
        </p:txBody>
      </p:sp>
      <p:sp>
        <p:nvSpPr>
          <p:cNvPr id="7" name="카드 모으기"/>
          <p:cNvSpPr/>
          <p:nvPr/>
        </p:nvSpPr>
        <p:spPr>
          <a:xfrm>
            <a:off x="548640" y="1828800"/>
            <a:ext cx="1627632" cy="2148840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8" name="Image 0" descr="모으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16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1288" y="199339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모으기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688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구글 뉴스·전문지 RSS에서 키워드로</a:t>
            </a:r>
            <a:endParaRPr lang="ko-KR" alt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03704" y="2898648"/>
            <a:ext cx="210312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2" name="카드 거르기"/>
          <p:cNvSpPr/>
          <p:nvPr/>
        </p:nvSpPr>
        <p:spPr>
          <a:xfrm>
            <a:off x="2441448" y="1828800"/>
            <a:ext cx="1627632" cy="2148840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3" name="Image 1" descr="거르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20116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54096" y="199339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거르기</a:t>
            </a:r>
            <a:endParaRPr lang="ko-KR" alt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624328" y="24688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제목 확인·제외 매체·행사·이미 보고</a:t>
            </a:r>
            <a:endParaRPr lang="ko-KR" alt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096512" y="2898648"/>
            <a:ext cx="210312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카드 점수"/>
          <p:cNvSpPr/>
          <p:nvPr/>
        </p:nvSpPr>
        <p:spPr>
          <a:xfrm>
            <a:off x="4334256" y="1828800"/>
            <a:ext cx="1627632" cy="2148840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8" name="Image 2" descr="점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0116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46904" y="199339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점수</a:t>
            </a:r>
            <a:endParaRPr lang="ko-KR" alt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517136" y="24688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공단·사업어·리스크로 점수, 분류 추정</a:t>
            </a:r>
            <a:endParaRPr lang="ko-KR" alt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989320" y="2898648"/>
            <a:ext cx="210312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2" name="카드 추천 ★"/>
          <p:cNvSpPr/>
          <p:nvPr/>
        </p:nvSpPr>
        <p:spPr>
          <a:xfrm>
            <a:off x="6227064" y="1828800"/>
            <a:ext cx="1627632" cy="2148840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23" name="Image 3" descr="추천 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01168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39712" y="199339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추천 ★</a:t>
            </a:r>
            <a:endParaRPr lang="ko-KR" alt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09944" y="24688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리스크 먼저, 분류 고루 5건</a:t>
            </a:r>
            <a:endParaRPr lang="ko-KR" alt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882128" y="2898648"/>
            <a:ext cx="210312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7" name="카드 보고서"/>
          <p:cNvSpPr/>
          <p:nvPr/>
        </p:nvSpPr>
        <p:spPr>
          <a:xfrm>
            <a:off x="8119872" y="1828800"/>
            <a:ext cx="1627632" cy="2148840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28" name="Image 4" descr="보고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0116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32520" y="199339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보고서</a:t>
            </a:r>
            <a:endParaRPr lang="ko-KR" alt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8302752" y="24688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메일에 붙일 제목·본문 복사</a:t>
            </a:r>
            <a:endParaRPr lang="ko-KR" alt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774936" y="2898648"/>
            <a:ext cx="210312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2" name="카드 기록"/>
          <p:cNvSpPr/>
          <p:nvPr/>
        </p:nvSpPr>
        <p:spPr>
          <a:xfrm>
            <a:off x="10012680" y="1828800"/>
            <a:ext cx="1627632" cy="2148840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33" name="Image 5" descr="기록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848" y="201168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0625328" y="199339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기록</a:t>
            </a:r>
            <a:endParaRPr lang="ko-KR" alt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10195560" y="24688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보낸 기사는 다음 조회에서 빠짐</a:t>
            </a:r>
            <a:endParaRPr lang="ko-KR" altLang="en-US" sz="1400" dirty="0"/>
          </a:p>
        </p:txBody>
      </p:sp>
      <p:sp>
        <p:nvSpPr>
          <p:cNvPr id="36" name="카드 환류: 규칙은 앱이 아니라 담당자가 고칩니다"/>
          <p:cNvSpPr/>
          <p:nvPr/>
        </p:nvSpPr>
        <p:spPr>
          <a:xfrm>
            <a:off x="548640" y="434340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37" name="Image 6" descr="환류: 규칙은 앱이 아니라 담당자가 고칩니다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52628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161288" y="450799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환류: 규칙은 앱이 아니라 담당자가 고칩니다</a:t>
            </a:r>
            <a:endParaRPr lang="ko-KR" altLang="en-US" sz="1700" dirty="0"/>
          </a:p>
        </p:txBody>
      </p:sp>
      <p:sp>
        <p:nvSpPr>
          <p:cNvPr id="39" name="Text 30"/>
          <p:cNvSpPr txBox="1"/>
          <p:nvPr/>
        </p:nvSpPr>
        <p:spPr>
          <a:xfrm>
            <a:off x="749808" y="4965192"/>
            <a:ext cx="10692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결과 엑셀을 내려받아 Claude에 보내면 규칙 개선안(JSON)이 돌아옵니다. [선정 규칙] 탭에 붙여 넣으면 바뀔 항목을 보여 준 뒤 적용하고, 변경 이력에 남습니다. 앱을 업데이트하지 않아도 다음 조회부터 바로 반영됩니다.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01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시작하기 · 설치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설치와 첫 실행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설치 프로그램이 없는 exe 파일 하나입니다. 폴더에 넣고 실행하면 됩니다</a:t>
            </a:r>
            <a:endParaRPr lang="ko-KR" altLang="en-US" sz="1200" dirty="0"/>
          </a:p>
        </p:txBody>
      </p:sp>
      <p:sp>
        <p:nvSpPr>
          <p:cNvPr id="7" name="카드 내려받기"/>
          <p:cNvSpPr/>
          <p:nvPr/>
        </p:nvSpPr>
        <p:spPr>
          <a:xfrm>
            <a:off x="548640" y="1691640"/>
            <a:ext cx="3346704" cy="2212848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8" name="Image 0" descr="내려받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745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1288" y="185623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내려받기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313432"/>
            <a:ext cx="29443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GitHub Releases 또는 공문 안내 경로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파일: NewsMonitor_v버전.exe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C:\NewsMonitor 같은 폴더에 넣기</a:t>
            </a:r>
            <a:endParaRPr lang="ko-KR" altLang="en-US" sz="1400" dirty="0"/>
          </a:p>
        </p:txBody>
      </p:sp>
      <p:sp>
        <p:nvSpPr>
          <p:cNvPr id="11" name="카드 윈도우 경고가 뜰 때"/>
          <p:cNvSpPr/>
          <p:nvPr/>
        </p:nvSpPr>
        <p:spPr>
          <a:xfrm>
            <a:off x="4041648" y="1691640"/>
            <a:ext cx="3346704" cy="2212848"/>
          </a:xfrm>
          <a:prstGeom prst="roundRect">
            <a:avLst>
              <a:gd name="adj" fmla="val 4132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pic>
        <p:nvPicPr>
          <p:cNvPr id="12" name="Image 1" descr="윈도우 경고가 뜰 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8745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4296" y="185623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윈도우 경고가 뜰 때</a:t>
            </a:r>
            <a:endParaRPr lang="ko-KR" alt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242816" y="2313432"/>
            <a:ext cx="29443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경고 창에서 [추가 정보] → [실행]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또는 파일 오른쪽 클릭 → 속성 → '차단 해제' 체크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코드 서명이 없어 뜨는 안내입니다</a:t>
            </a:r>
            <a:endParaRPr lang="ko-KR" altLang="en-US" sz="1400" dirty="0"/>
          </a:p>
        </p:txBody>
      </p:sp>
      <p:sp>
        <p:nvSpPr>
          <p:cNvPr id="15" name="카드 설정·기록 저장 위치"/>
          <p:cNvSpPr/>
          <p:nvPr/>
        </p:nvSpPr>
        <p:spPr>
          <a:xfrm>
            <a:off x="548640" y="4069080"/>
            <a:ext cx="3346704" cy="2212848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6" name="Image 2" descr="설정·기록 저장 위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51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61288" y="423367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설정·기록 저장 위치</a:t>
            </a:r>
            <a:endParaRPr lang="ko-KR" alt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" y="4690872"/>
            <a:ext cx="29443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exe 옆에 config.json(설정·규칙)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sent_history.json(보고 기록)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reports\ (보고서) — 내 PC에만 저장</a:t>
            </a:r>
            <a:endParaRPr lang="ko-KR" altLang="en-US" sz="1400" dirty="0"/>
          </a:p>
        </p:txBody>
      </p:sp>
      <p:sp>
        <p:nvSpPr>
          <p:cNvPr id="19" name="카드 업데이트"/>
          <p:cNvSpPr/>
          <p:nvPr/>
        </p:nvSpPr>
        <p:spPr>
          <a:xfrm>
            <a:off x="4041648" y="4069080"/>
            <a:ext cx="3346704" cy="2212848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20" name="Image 3" descr="업데이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42519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654296" y="423367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업데이트</a:t>
            </a:r>
            <a:endParaRPr lang="ko-KR" alt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242816" y="4690872"/>
            <a:ext cx="29443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켤 때 새 버전을 알려 줌 → [예]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GitHub이 막힌 PC: 안내 창이 뜸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→ 공문 경로에서 새 파일로 바꾸기</a:t>
            </a:r>
            <a:endParaRPr lang="ko-KR" altLang="en-US" sz="1400" dirty="0"/>
          </a:p>
        </p:txBody>
      </p:sp>
      <p:sp>
        <p:nvSpPr>
          <p:cNvPr id="23" name="자리표시자"/>
          <p:cNvSpPr/>
          <p:nvPr/>
        </p:nvSpPr>
        <p:spPr>
          <a:xfrm>
            <a:off x="7680960" y="1691640"/>
            <a:ext cx="3962095" cy="4590288"/>
          </a:xfrm>
          <a:prstGeom prst="rect">
            <a:avLst/>
          </a:prstGeom>
          <a:solidFill>
            <a:srgbClr val="FFFFFF"/>
          </a:solidFill>
          <a:ln w="15875">
            <a:solidFill>
              <a:srgbClr val="667385"/>
            </a:solidFill>
            <a:prstDash val="dash"/>
          </a:ln>
        </p:spPr>
      </p:sp>
      <p:sp>
        <p:nvSpPr>
          <p:cNvPr id="24" name="Text 18"/>
          <p:cNvSpPr txBox="1"/>
          <p:nvPr/>
        </p:nvSpPr>
        <p:spPr>
          <a:xfrm>
            <a:off x="7955280" y="3529584"/>
            <a:ext cx="3413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[화면 넣을 자리]</a:t>
            </a:r>
            <a:endParaRPr lang="ko-KR" altLang="en-US" sz="1400" dirty="0"/>
          </a:p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윈도우 'PC 보호' 경고 창</a:t>
            </a:r>
            <a:endParaRPr lang="ko-KR" altLang="en-US" sz="1400" dirty="0"/>
          </a:p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(추가 정보 → 실행)</a:t>
            </a:r>
            <a:endParaRPr lang="ko-KR" altLang="en-US" sz="1400" dirty="0"/>
          </a:p>
          <a:p>
            <a:pPr latinLnBrk="0" algn="ctr" indent="0" marL="0">
              <a:buNone/>
            </a:pPr>
            <a:endParaRPr lang="ko-KR" altLang="en-US" sz="1400" dirty="0"/>
          </a:p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담당자 PC에서 처음 실행할 때 찍어 넣기</a:t>
            </a:r>
            <a:endParaRPr lang="ko-KR" altLang="en-US" sz="1400" dirty="0"/>
          </a:p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권장 크기 4.3 × 5.0in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01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시작하기 · 화면 구성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화면 구성: 탭 5개와 상태줄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위쪽 탭으로 일을 고르고, 아래 상태줄에서 진행 상황을 봅니다</a:t>
            </a:r>
            <a:endParaRPr lang="ko-KR" altLang="en-US" sz="1200" dirty="0"/>
          </a:p>
        </p:txBody>
      </p:sp>
      <p:pic>
        <p:nvPicPr>
          <p:cNvPr id="7" name="화면 01_basic_empty" descr="01_basic_emp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1605308" y="1618488"/>
            <a:ext cx="2039683" cy="313754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1587020" y="16367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6783098" y="1667030"/>
            <a:ext cx="583430" cy="216670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6764810" y="168531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629079" y="1963674"/>
            <a:ext cx="6742843" cy="432411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610791" y="168935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6437912" y="2476059"/>
            <a:ext cx="842320" cy="26521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6419624" y="220173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표시 ⑤"/>
          <p:cNvSpPr/>
          <p:nvPr/>
        </p:nvSpPr>
        <p:spPr>
          <a:xfrm>
            <a:off x="521208" y="5744539"/>
            <a:ext cx="6958584" cy="243638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8" name="번호 ⑤"/>
          <p:cNvSpPr txBox="1"/>
          <p:nvPr/>
        </p:nvSpPr>
        <p:spPr>
          <a:xfrm>
            <a:off x="566928" y="547021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⑤</a:t>
            </a:r>
            <a:endParaRPr lang="ko-KR" altLang="en-US" sz="1700" dirty="0"/>
          </a:p>
        </p:txBody>
      </p:sp>
      <p:sp>
        <p:nvSpPr>
          <p:cNvPr id="19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탭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베이직(매일 보고) · 프로(AI 선별) · 보고 기록 · 선정 규칙 · 설정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업데이트 확인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새 버전이 있으면 받아서 스스로 바꿉니다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단계 표시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베이직의 ①~④ 중 지금 할 일이 진하게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조회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다음에 누를 버튼 하나만 진한 색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⑤ 상태줄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진행 중·완료·오류(빨강)를 한 줄로 알려 줌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02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베이직 · ① 조회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 조회: 기간은 자동, [조회]만 누르기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기간은 직전 영업일 오전 9시부터 지금까지로 자동 설정됩니다(공휴일 반영)</a:t>
            </a:r>
            <a:endParaRPr lang="ko-KR" altLang="en-US" sz="1200" dirty="0"/>
          </a:p>
        </p:txBody>
      </p:sp>
      <p:pic>
        <p:nvPicPr>
          <p:cNvPr id="7" name="화면 02_basic_busy" descr="02_basic_bus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5801475" y="2476059"/>
            <a:ext cx="648152" cy="26521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5783187" y="220173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521208" y="5744539"/>
            <a:ext cx="6958584" cy="243638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566928" y="547021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기간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[자동]이 기본. 필요하면 [오늘]·[최근 3일]이나 날짜를 직접 고칩니다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[① 조회]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구글 뉴스와 전문지에서 키워드별로 기사를 모읍니다(1~2분)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■ 정지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설정을 빠뜨렸다면 누르세요. 지금 묻는 키워드 하나가 끝나면 멈춥니다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상태줄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몇 번째 키워드인지, 지금까지 몇 건 모았는지 보여 줍니다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02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베이직 · ② 추천 확인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 ★추천 확인하고 순서 정하기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추천 5건이 미리 선택됩니다. 더하고 빼고, 끌어서 순서를 정하면 그 순서대로 보고서에 실립니다</a:t>
            </a:r>
            <a:endParaRPr lang="ko-KR" altLang="en-US" sz="1200" dirty="0"/>
          </a:p>
        </p:txBody>
      </p:sp>
      <p:pic>
        <p:nvPicPr>
          <p:cNvPr id="7" name="화면 03_basic_result" descr="03_basic_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634472" y="3317450"/>
            <a:ext cx="421624" cy="863894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616184" y="304313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1001232" y="3112496"/>
            <a:ext cx="324541" cy="259818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982944" y="28381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645259" y="3479256"/>
            <a:ext cx="6629579" cy="216670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7159752" y="3450431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5272909" y="2880574"/>
            <a:ext cx="497134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5254621" y="260625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표시 ⑤"/>
          <p:cNvSpPr/>
          <p:nvPr/>
        </p:nvSpPr>
        <p:spPr>
          <a:xfrm>
            <a:off x="5758327" y="2880574"/>
            <a:ext cx="788384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8" name="번호 ⑤"/>
          <p:cNvSpPr txBox="1"/>
          <p:nvPr/>
        </p:nvSpPr>
        <p:spPr>
          <a:xfrm>
            <a:off x="5740039" y="260625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⑤</a:t>
            </a:r>
            <a:endParaRPr lang="ko-KR" altLang="en-US" sz="1700" dirty="0"/>
          </a:p>
        </p:txBody>
      </p:sp>
      <p:sp>
        <p:nvSpPr>
          <p:cNvPr id="19" name="표시 ⑥"/>
          <p:cNvSpPr/>
          <p:nvPr/>
        </p:nvSpPr>
        <p:spPr>
          <a:xfrm>
            <a:off x="6534995" y="2880574"/>
            <a:ext cx="745236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20" name="번호 ⑥"/>
          <p:cNvSpPr txBox="1"/>
          <p:nvPr/>
        </p:nvSpPr>
        <p:spPr>
          <a:xfrm>
            <a:off x="6516707" y="260625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⑥</a:t>
            </a:r>
            <a:endParaRPr lang="ko-KR" altLang="en-US" sz="1700" dirty="0"/>
          </a:p>
        </p:txBody>
      </p:sp>
      <p:sp>
        <p:nvSpPr>
          <p:cNvPr id="21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선택 칸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누르면 넣고 빼기. ★는 앱 추천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순번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조회 때 매긴 고정 번호(정렬해도 그대로)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끌어 놓기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제목 칸을 누른 채 위아래로 끌어 순서 변경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▲ ▼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줄을 누른 뒤 한 칸씩 이동(Ctrl+↑↓)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⑤ 추천으로 되돌리기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고친 선택을 처음 추천대로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⑥ 기사 링크로 추가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검색에 없는 기사를 주소로 넣기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02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베이직 · ③ 보고서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 HTML 보고서 열고 복사하기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[③ HTML 보고서 열기]를 누르면 브라우저에 메일용 보고서가 열립니다</a:t>
            </a:r>
            <a:endParaRPr lang="ko-KR" altLang="en-US" sz="1200" dirty="0"/>
          </a:p>
        </p:txBody>
      </p:sp>
      <p:pic>
        <p:nvPicPr>
          <p:cNvPr id="7" name="화면 04_report" descr="04_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699760" cy="4663440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5699760" cy="4663440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4775302" y="2753258"/>
            <a:ext cx="635203" cy="24140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4757014" y="247893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4775302" y="3592678"/>
            <a:ext cx="635203" cy="24140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4757014" y="331835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1484986" y="4007206"/>
            <a:ext cx="3827069" cy="883920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1466698" y="373288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1484986" y="5608320"/>
            <a:ext cx="3827069" cy="72847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1466698" y="53340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제목 복사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편지쓰기 '제목' 칸에 붙여넣기. 예: (261026)언론보도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본문 복사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본문 ①·② 중 하나를 골라 복사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본문 ① 기존 양식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링크 걸린 기사 제목만, 표 순서대로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본문 ② 분류 포함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분류·키워드별 묶음과 매체·날짜, AI 인사이트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02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베이직 · ③ 메일 보내기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그룹웨어 편지쓰기에 붙여넣기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제목과 본문을 붙여 넣고 받는 사람을 지정해 보냅니다</a:t>
            </a:r>
            <a:endParaRPr lang="ko-KR" altLang="en-US" sz="1200" dirty="0"/>
          </a:p>
        </p:txBody>
      </p:sp>
      <p:sp>
        <p:nvSpPr>
          <p:cNvPr id="7" name="자리표시자"/>
          <p:cNvSpPr/>
          <p:nvPr/>
        </p:nvSpPr>
        <p:spPr>
          <a:xfrm>
            <a:off x="548640" y="1691640"/>
            <a:ext cx="69037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667385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3520440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[화면 넣을 자리]</a:t>
            </a:r>
            <a:endParaRPr lang="ko-KR" altLang="en-US" sz="1400" dirty="0"/>
          </a:p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그룹웨어 편지쓰기 화면</a:t>
            </a:r>
            <a:endParaRPr lang="ko-KR" altLang="en-US" sz="1400" dirty="0"/>
          </a:p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(제목·본문에 붙여 넣은 모습)</a:t>
            </a:r>
            <a:endParaRPr lang="ko-KR" altLang="en-US" sz="1400" dirty="0"/>
          </a:p>
          <a:p>
            <a:pPr latinLnBrk="0" algn="ctr" indent="0" marL="0">
              <a:buNone/>
            </a:pPr>
            <a:endParaRPr lang="ko-KR" altLang="en-US" sz="1400" dirty="0"/>
          </a:p>
          <a:p>
            <a:pPr latinLnBrk="0" algn="ctr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권장 크기 7.5 × 5.0in</a:t>
            </a:r>
            <a:endParaRPr lang="ko-KR" altLang="en-US" sz="1400" dirty="0"/>
          </a:p>
        </p:txBody>
      </p:sp>
      <p:sp>
        <p:nvSpPr>
          <p:cNvPr id="9" name="카드 붙여넣기 순서"/>
          <p:cNvSpPr/>
          <p:nvPr/>
        </p:nvSpPr>
        <p:spPr>
          <a:xfrm>
            <a:off x="7818120" y="1691640"/>
            <a:ext cx="3824935" cy="22860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0" name="Image 0" descr="붙여넣기 순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18745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430768" y="18562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붙여넣기 순서</a:t>
            </a:r>
            <a:endParaRPr lang="ko-KR" alt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019288" y="2313432"/>
            <a:ext cx="34225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보고서 [제목 복사] → 제목 칸 Ctrl+V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[본문 복사] → 본문 칸 Ctrl+V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받는 사람 지정 → 보내기</a:t>
            </a:r>
            <a:endParaRPr lang="ko-KR" altLang="en-US" sz="1400" dirty="0"/>
          </a:p>
        </p:txBody>
      </p:sp>
      <p:sp>
        <p:nvSpPr>
          <p:cNvPr id="13" name="카드 보낸 뒤 꼭"/>
          <p:cNvSpPr/>
          <p:nvPr/>
        </p:nvSpPr>
        <p:spPr>
          <a:xfrm>
            <a:off x="7818120" y="4160520"/>
            <a:ext cx="3824935" cy="2103120"/>
          </a:xfrm>
          <a:prstGeom prst="roundRect">
            <a:avLst>
              <a:gd name="adj" fmla="val 4348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pic>
        <p:nvPicPr>
          <p:cNvPr id="14" name="Image 1" descr="보낸 뒤 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43434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430768" y="432511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보낸 뒤 꼭</a:t>
            </a:r>
            <a:endParaRPr lang="ko-KR" alt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8019288" y="4782312"/>
            <a:ext cx="34225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앱으로 돌아와 [④ 보고 완료로 기록]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기록해야 다음 조회에서 빠집니다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3B5C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02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베이직 · ④ 기록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 보고 완료로 기록 · 보고 기록 탭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보낸 기사는 날짜별로 3년 보관되고, 다음 조회에서 자동으로 빠집니다</a:t>
            </a:r>
            <a:endParaRPr lang="ko-KR" altLang="en-US" sz="1200" dirty="0"/>
          </a:p>
        </p:txBody>
      </p:sp>
      <p:pic>
        <p:nvPicPr>
          <p:cNvPr id="7" name="화면 05_history" descr="05_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634472" y="2281892"/>
            <a:ext cx="1365492" cy="3139964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616184" y="20075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2101513" y="2605504"/>
            <a:ext cx="5184112" cy="281635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2083225" y="233118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6108906" y="2335828"/>
            <a:ext cx="1171325" cy="26521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6090618" y="20615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6481060" y="5426321"/>
            <a:ext cx="799171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6462772" y="5152001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표시 ⑤"/>
          <p:cNvSpPr/>
          <p:nvPr/>
        </p:nvSpPr>
        <p:spPr>
          <a:xfrm>
            <a:off x="6114300" y="2001429"/>
            <a:ext cx="1187506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8" name="번호 ⑤"/>
          <p:cNvSpPr txBox="1"/>
          <p:nvPr/>
        </p:nvSpPr>
        <p:spPr>
          <a:xfrm>
            <a:off x="6096012" y="172710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⑤</a:t>
            </a:r>
            <a:endParaRPr lang="ko-KR" altLang="en-US" sz="1700" dirty="0"/>
          </a:p>
        </p:txBody>
      </p:sp>
      <p:sp>
        <p:nvSpPr>
          <p:cNvPr id="19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보고일 목록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날짜를 누르면 그날 보낸 기사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기사 목록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더블클릭하면 원문이 열립니다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보고서 다시 열기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그날 메일 본문을 다시 복사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기록 취소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잘못 기록한 기사 → 다음 조회에 다시 나옴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⑤ 지난 보고 메일 불러오기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그룹웨어에서 저장한 메일(HTML·EML)을 기록으로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03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프로 · 화면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프로 탭: 후보 전체를 보고 직접 고르기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언론보도 담당자용. 등급·점수·분류를 보고 고르며, AI 선별을 함께 쓸 수 있습니다</a:t>
            </a:r>
            <a:endParaRPr lang="ko-KR" altLang="en-US" sz="1200" dirty="0"/>
          </a:p>
        </p:txBody>
      </p:sp>
      <p:pic>
        <p:nvPicPr>
          <p:cNvPr id="7" name="화면 06_pro_result" descr="06_pro_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720769" y="2023003"/>
            <a:ext cx="6559463" cy="17352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702481" y="1748683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720769" y="2519208"/>
            <a:ext cx="6559463" cy="205883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6951047" y="248498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720769" y="2864394"/>
            <a:ext cx="1263015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1654600" y="284096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720769" y="3090922"/>
            <a:ext cx="6559463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702481" y="281660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표시 ⑤"/>
          <p:cNvSpPr/>
          <p:nvPr/>
        </p:nvSpPr>
        <p:spPr>
          <a:xfrm>
            <a:off x="1270909" y="3322844"/>
            <a:ext cx="400050" cy="259818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8" name="번호 ⑤"/>
          <p:cNvSpPr txBox="1"/>
          <p:nvPr/>
        </p:nvSpPr>
        <p:spPr>
          <a:xfrm>
            <a:off x="1707535" y="3315593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⑤</a:t>
            </a:r>
            <a:endParaRPr lang="ko-KR" altLang="en-US" sz="1700" dirty="0"/>
          </a:p>
        </p:txBody>
      </p:sp>
      <p:sp>
        <p:nvSpPr>
          <p:cNvPr id="19" name="표시 ⑥"/>
          <p:cNvSpPr/>
          <p:nvPr/>
        </p:nvSpPr>
        <p:spPr>
          <a:xfrm>
            <a:off x="3843623" y="5447895"/>
            <a:ext cx="3528298" cy="26521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20" name="번호 ⑥"/>
          <p:cNvSpPr txBox="1"/>
          <p:nvPr/>
        </p:nvSpPr>
        <p:spPr>
          <a:xfrm>
            <a:off x="3825335" y="517357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⑥</a:t>
            </a:r>
            <a:endParaRPr lang="ko-KR" altLang="en-US" sz="1700" dirty="0"/>
          </a:p>
        </p:txBody>
      </p:sp>
      <p:sp>
        <p:nvSpPr>
          <p:cNvPr id="21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조회 조건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이미 보고한 기사 제외·같은 사안 묶기·단순 행사 제외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키워드 요약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고치려면 [선정 규칙에서 고치기 ›]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선택 도구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전체·★추천만·키워드별로 선택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순서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선택 항목 맨 위로, ▲▼, 끌어 놓기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⑤ 등급·점수·분류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머리글을 누르면 그 열로 정렬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⑥ 단계 버튼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AI 선별 요청 → 결과 붙여넣기 → 보고서 → 기록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03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프로 · 읽는 법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등급·분류 읽는 법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등급은 '왜 후보가 됐는지', 분류는 '무엇에 관한 기사인지'입니다</a:t>
            </a:r>
            <a:endParaRPr lang="ko-KR" alt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675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526280"/>
                <a:gridCol w="1280160"/>
              </a:tblGrid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등급</a:t>
                      </a:r>
                      <a:endParaRPr lang="ko-KR" alt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뜻</a:t>
                      </a:r>
                      <a:endParaRPr lang="ko-KR" alt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기본 점수</a:t>
                      </a:r>
                      <a:endParaRPr lang="ko-KR" alt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A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제목에 '주택관리공단'(또는 KOHOM)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+50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A?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지사명만 있고 공단 이름은 없음 — 공단 기사인지 확인(추천 안 함)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+20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S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공단 업무를 가리키는 말(영구임대·공공임대·주거급여 등)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+30 (2개 +40)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B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주거·공동주택 정책 환경(LH·층간소음·경영평가 등)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+10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전문지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아파트관리신문·한국아파트신문 — 키워드 없이도 후보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+15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직접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[기사 링크로 추가]로 넣은 기사 — 항상 포함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—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691640"/>
          <a:ext cx="414497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727655"/>
              </a:tblGrid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분류(위부터)</a:t>
                      </a:r>
                      <a:endParaRPr lang="ko-KR" alt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조건</a:t>
                      </a:r>
                      <a:endParaRPr lang="ko-KR" alt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리스크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리스크어(사고·체납·징계 등) + 공단 관련 주제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기관 직접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공단(A) 기사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정책·제도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개정·시행령 등 정책어, 주거급여 등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모회사·부처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LH·국토부 관련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공공기관 공통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경영평가·청렴도·산하기관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업계·환경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그 밖(공고 기사 포함)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03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프로 · AI 선별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AI 선별: 요청문 복사 → Claude → 결과 붙여넣기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앱이 AI를 직접 부르지 않습니다. 담당자가 복사·붙여넣기로 이어 줍니다</a:t>
            </a:r>
            <a:endParaRPr lang="ko-KR" altLang="en-US" sz="1200" dirty="0"/>
          </a:p>
        </p:txBody>
      </p:sp>
      <p:pic>
        <p:nvPicPr>
          <p:cNvPr id="7" name="화면 07_paste_dialog" descr="07_paste_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675120" cy="3101391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783080"/>
            <a:ext cx="6675120" cy="3101391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③"/>
          <p:cNvSpPr/>
          <p:nvPr/>
        </p:nvSpPr>
        <p:spPr>
          <a:xfrm>
            <a:off x="708361" y="2352755"/>
            <a:ext cx="6221998" cy="1587735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③"/>
          <p:cNvSpPr txBox="1"/>
          <p:nvPr/>
        </p:nvSpPr>
        <p:spPr>
          <a:xfrm>
            <a:off x="690073" y="207843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1" name="표시 ④"/>
          <p:cNvSpPr/>
          <p:nvPr/>
        </p:nvSpPr>
        <p:spPr>
          <a:xfrm>
            <a:off x="4665308" y="4402525"/>
            <a:ext cx="1195605" cy="402434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④"/>
          <p:cNvSpPr txBox="1"/>
          <p:nvPr/>
        </p:nvSpPr>
        <p:spPr>
          <a:xfrm>
            <a:off x="4647020" y="412820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3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[AI 선별 요청문 복사]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선택된 기사들이 순번과 함께 복사됩니다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Claude 프로젝트에 붙여넣기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판단 기준서가 들어 있는 프로젝트 채팅에 Ctrl+V → 보내기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[선정 결과 붙여넣기]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답변의 '#선정' 아래 줄(번호|분류|인사이트)을 붙여 넣기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[적용]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고른 기사만 선택되고 분류·인사이트가 붙어 맨 위로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03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프로 · 순서와 보고서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순서를 정하면 그대로 보고서에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선택한 기사를 맨 위로 모은 뒤 중요한 순서로 끌어 놓습니다</a:t>
            </a:r>
            <a:endParaRPr lang="ko-KR" altLang="en-US" sz="1200" dirty="0"/>
          </a:p>
        </p:txBody>
      </p:sp>
      <p:pic>
        <p:nvPicPr>
          <p:cNvPr id="7" name="화면 08_pro_after_ai" descr="08_pro_after_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720769" y="3090922"/>
            <a:ext cx="6559463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702481" y="281660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1001232" y="3322844"/>
            <a:ext cx="324541" cy="259818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982944" y="30485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645259" y="3527798"/>
            <a:ext cx="6629579" cy="863894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7159752" y="382258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5639669" y="5447895"/>
            <a:ext cx="912435" cy="26521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5621381" y="517357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순서 줄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[선택 항목 맨 위로] · [▲ 위로] · [▼ 아래로]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순번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AI가 말한 번호와 같은 번호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선택한 기사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끌어 놓아 중요한 순서로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[HTML 보고서 열기]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본문 ①은 표 순서 그대로, ②는 분류 묶음을 처음 나오는 순서로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03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프로 · 결과 엑셀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결과 엑셀: 앱 판단과 내 판단을 나란히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프로 탭 왼쪽 아래 [⤓ 결과 엑셀로 내려받기] — 규칙 개선(환류)의 재료입니다</a:t>
            </a:r>
            <a:endParaRPr lang="ko-KR" alt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  <a:gridCol w="3230575"/>
              </a:tblGrid>
              <a:tr h="68580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시트</a:t>
                      </a:r>
                      <a:endParaRPr lang="ko-KR" alt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담긴 것</a:t>
                      </a:r>
                      <a:endParaRPr lang="ko-KR" alt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쓰는 곳</a:t>
                      </a:r>
                      <a:endParaRPr lang="ko-KR" alt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조회결과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표의 기사 전부, 프로·베이직 최종 선택, ★추천, 등급·점수·항목별 점수, 점수 근거, 분류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앱 판단 vs 사람 판단 비교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빠진 기사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제외 매체·제목 검증 실패·제외어·행사·이미 보고·같은 사안 묶음과 그 이유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놓친 기사 찾기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조회 조건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기간·검색 방식·전문지·옵션·건수 흐름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그날 조건 확인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선정 규칙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조회한 그때의 규칙 전체(규칙 JSON 포함)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Claude가 고칠 원본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카드 파일 이름: KOHOM뉴스룸_조회결과_날짜_시분.xlsx — 네이버 키 같은 비밀값은 넣지 않습니다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9" name="Image 0" descr="파일 이름: KOHOM뉴스룸_조회결과_날짜_시분.xlsx — 네이버 키 같은 비밀값은 넣지 않습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235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61288" y="560527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파일 이름: KOHOM뉴스룸_조회결과_날짜_시분.xlsx — 네이버 키 같은 비밀값은 넣지 않습니다</a:t>
            </a:r>
            <a:endParaRPr lang="ko-KR" alt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04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선정 규칙 · 화면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선정 규칙 탭: 키워드·점수·추천 기준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고치고 [규칙 저장]을 누르면 다음 조회부터 적용됩니다. 앱 업데이트가 필요 없습니다</a:t>
            </a:r>
            <a:endParaRPr lang="ko-KR" altLang="en-US" sz="1200" dirty="0"/>
          </a:p>
        </p:txBody>
      </p:sp>
      <p:pic>
        <p:nvPicPr>
          <p:cNvPr id="7" name="화면 09_rules_top" descr="09_rules_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742343" y="2767310"/>
            <a:ext cx="2147554" cy="11443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724055" y="249299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2899755" y="2767310"/>
            <a:ext cx="2115193" cy="11443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2881467" y="249299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5024807" y="2767310"/>
            <a:ext cx="2152948" cy="11443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5006519" y="249299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5833836" y="2033790"/>
            <a:ext cx="664333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5815548" y="175947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표시 ⑤"/>
          <p:cNvSpPr/>
          <p:nvPr/>
        </p:nvSpPr>
        <p:spPr>
          <a:xfrm>
            <a:off x="629079" y="5447895"/>
            <a:ext cx="1937206" cy="227457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8" name="번호 ⑤"/>
          <p:cNvSpPr txBox="1"/>
          <p:nvPr/>
        </p:nvSpPr>
        <p:spPr>
          <a:xfrm>
            <a:off x="610791" y="517357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⑤</a:t>
            </a:r>
            <a:endParaRPr lang="ko-KR" altLang="en-US" sz="1700" dirty="0"/>
          </a:p>
        </p:txBody>
      </p:sp>
      <p:sp>
        <p:nvSpPr>
          <p:cNvPr id="19" name="표시 ⑥"/>
          <p:cNvSpPr/>
          <p:nvPr/>
        </p:nvSpPr>
        <p:spPr>
          <a:xfrm>
            <a:off x="6410944" y="5415534"/>
            <a:ext cx="960977" cy="297573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20" name="번호 ⑥"/>
          <p:cNvSpPr txBox="1"/>
          <p:nvPr/>
        </p:nvSpPr>
        <p:spPr>
          <a:xfrm>
            <a:off x="6392656" y="514121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⑥</a:t>
            </a:r>
            <a:endParaRPr lang="ko-KR" altLang="en-US" sz="1700" dirty="0"/>
          </a:p>
        </p:txBody>
      </p:sp>
      <p:sp>
        <p:nvSpPr>
          <p:cNvPr id="21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A 기관 직접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제목에 있으면 무조건 후보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S 사업어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공단 업무를 가리키는 말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B 환경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주거·공동주택 정책 환경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환류 버튼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개선 요청문 복사 · Claude 답변 붙여넣기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⑤ 규칙 파일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내보내기·불러오기(다른 PC와 공유)·기본값으로</a:t>
            </a:r>
            <a:endParaRPr lang="ko-KR" altLang="en-US" sz="1400" dirty="0"/>
          </a:p>
          <a:p>
            <a:pPr latinLnBrk="0" indent="0" marL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⑥ 규칙 저장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저장하면 변경 이력에 남음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04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선정 규칙 · 점수와 추천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점수와 추천 기준도 숫자 칸에서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가중치 숫자와 단어 목록을 고치면 점수·분류·★추천이 바로 다시 계산됩니다</a:t>
            </a:r>
            <a:endParaRPr lang="ko-KR" altLang="en-US" sz="1200" dirty="0"/>
          </a:p>
        </p:txBody>
      </p:sp>
      <p:pic>
        <p:nvPicPr>
          <p:cNvPr id="7" name="화면 10_rules_score" descr="10_rules_sc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742343" y="2993838"/>
            <a:ext cx="4693301" cy="1387066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724055" y="271951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742343" y="4428518"/>
            <a:ext cx="6435411" cy="885468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724055" y="415419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가중치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A 50 · S 30 · 모회사 20 · B 10 · 리스크 20 · 정책 10 · 공고 −25 등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단어 목록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리스크어는 공단 관련 주제와 함께일 때만 점수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추천 기준(화면 아래쪽)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추천 5건 · 최소 30점 · 리스크 먼저 2건 · 공단 최소 1건 · 같은 분류 2건(업계·환경 1건)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04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선정 규칙 · 환류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환류: 결과 엑셀 → Claude → 규칙 붙여넣기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앱의 판단과 담당자의 판단이 어긋난 곳이 곧 규칙을 고칠 곳입니다</a:t>
            </a:r>
            <a:endParaRPr lang="ko-KR" altLang="en-US" sz="1200" dirty="0"/>
          </a:p>
        </p:txBody>
      </p:sp>
      <p:pic>
        <p:nvPicPr>
          <p:cNvPr id="7" name="화면 11_rules_preview" descr="11_rules_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96535" cy="253929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6446520" y="1783080"/>
            <a:ext cx="5196535" cy="253929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⑤"/>
          <p:cNvSpPr/>
          <p:nvPr/>
        </p:nvSpPr>
        <p:spPr>
          <a:xfrm>
            <a:off x="9645241" y="3941107"/>
            <a:ext cx="942923" cy="325445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⑤"/>
          <p:cNvSpPr txBox="1"/>
          <p:nvPr/>
        </p:nvSpPr>
        <p:spPr>
          <a:xfrm>
            <a:off x="9626953" y="3666787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⑤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7830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프로 탭 [⤓ 결과 엑셀로 내려받기]</a:t>
            </a:r>
            <a:endParaRPr lang="ko-KR" alt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2130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며칠 치를 모으면 더 정확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6791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선정 규칙 [개선 요청문 복사]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30266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지금 규칙(JSON)이 함께 복사됨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753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Claude 대화창에 붙여넣기 + 엑셀 첨부</a:t>
            </a:r>
            <a:endParaRPr lang="ko-KR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39227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개선 요청문이 답변 형식을 알려 줌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47141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[Claude 답변 붙여넣기] → [다음]</a:t>
            </a:r>
            <a:endParaRPr lang="ko-KR" alt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" y="4818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바뀔 항목을 먼저 보여 줌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3675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⑤ [적용]</a:t>
            </a:r>
            <a:endParaRPr lang="ko-KR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" y="5715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저장 + 변경 이력에 '언제·무엇을' 남김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05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설정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설정: 기사 출처·보고서·공휴일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바꾼 값은 [설정 저장]을 눌러야 적용됩니다</a:t>
            </a:r>
            <a:endParaRPr lang="ko-KR" altLang="en-US" sz="1200" dirty="0"/>
          </a:p>
        </p:txBody>
      </p:sp>
      <p:pic>
        <p:nvPicPr>
          <p:cNvPr id="7" name="화면 13_settings" descr="13_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03720" cy="4314825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645920"/>
            <a:ext cx="6903720" cy="4314825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742343" y="2023003"/>
            <a:ext cx="3776401" cy="605004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724055" y="1748683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742343" y="3430715"/>
            <a:ext cx="3776401" cy="831533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724055" y="315639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742343" y="4660440"/>
            <a:ext cx="583430" cy="205883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724055" y="43861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4641866" y="1963674"/>
            <a:ext cx="2730056" cy="3442002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4623578" y="168935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표시 ⑤"/>
          <p:cNvSpPr/>
          <p:nvPr/>
        </p:nvSpPr>
        <p:spPr>
          <a:xfrm>
            <a:off x="6410944" y="5415534"/>
            <a:ext cx="960977" cy="297573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8" name="번호 ⑤"/>
          <p:cNvSpPr txBox="1"/>
          <p:nvPr/>
        </p:nvSpPr>
        <p:spPr>
          <a:xfrm>
            <a:off x="6392656" y="514121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⑤</a:t>
            </a:r>
            <a:endParaRPr lang="ko-KR" altLang="en-US" sz="1700" dirty="0"/>
          </a:p>
        </p:txBody>
      </p:sp>
      <p:sp>
        <p:nvSpPr>
          <p:cNvPr id="19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기사 출처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구글 뉴스(키 불필요)가 기본. 전문지 RSS 함께 조회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보고서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메일 제목 {날짜} → 261026 · 보고서 제목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선정 규칙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키워드·점수는 선정 규칙 탭에서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공휴일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자동 기간 계산용. 임시공휴일은 한 줄 추가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⑤ 설정 저장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 PC의 config.json에만 저장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05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설정 · 전문지 고르기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전문지 고르기: 홈페이지 주소만 넣으면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[설정] → [전문지 고르기 ›]. RSS 주소를 몰라도 홈페이지 주소로 찾아 연결까지 확인합니다</a:t>
            </a:r>
            <a:endParaRPr lang="ko-KR" altLang="en-US" sz="1200" dirty="0"/>
          </a:p>
        </p:txBody>
      </p:sp>
      <p:pic>
        <p:nvPicPr>
          <p:cNvPr id="7" name="화면 14_feeds" descr="14_fee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5668" cy="4480560"/>
          </a:xfrm>
          <a:prstGeom prst="rect">
            <a:avLst/>
          </a:prstGeom>
        </p:spPr>
      </p:pic>
      <p:sp>
        <p:nvSpPr>
          <p:cNvPr id="8" name="화면 테두리"/>
          <p:cNvSpPr/>
          <p:nvPr/>
        </p:nvSpPr>
        <p:spPr>
          <a:xfrm>
            <a:off x="548640" y="1783080"/>
            <a:ext cx="6405668" cy="4480560"/>
          </a:xfrm>
          <a:prstGeom prst="rect">
            <a:avLst/>
          </a:prstGeom>
          <a:ln w="9525">
            <a:solidFill>
              <a:srgbClr val="CBD5DF"/>
            </a:solidFill>
            <a:prstDash val="solid"/>
          </a:ln>
        </p:spPr>
      </p:sp>
      <p:sp>
        <p:nvSpPr>
          <p:cNvPr id="9" name="표시 ①"/>
          <p:cNvSpPr/>
          <p:nvPr/>
        </p:nvSpPr>
        <p:spPr>
          <a:xfrm>
            <a:off x="700090" y="2462657"/>
            <a:ext cx="6102768" cy="2184408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0" name="번호 ①"/>
          <p:cNvSpPr txBox="1"/>
          <p:nvPr/>
        </p:nvSpPr>
        <p:spPr>
          <a:xfrm>
            <a:off x="681802" y="2188337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①</a:t>
            </a:r>
            <a:endParaRPr lang="ko-KR" altLang="en-US" sz="1700" dirty="0"/>
          </a:p>
        </p:txBody>
      </p:sp>
      <p:sp>
        <p:nvSpPr>
          <p:cNvPr id="11" name="표시 ②"/>
          <p:cNvSpPr/>
          <p:nvPr/>
        </p:nvSpPr>
        <p:spPr>
          <a:xfrm>
            <a:off x="691571" y="4702937"/>
            <a:ext cx="6119805" cy="327446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2" name="번호 ②"/>
          <p:cNvSpPr txBox="1"/>
          <p:nvPr/>
        </p:nvSpPr>
        <p:spPr>
          <a:xfrm>
            <a:off x="673283" y="4428617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②</a:t>
            </a:r>
            <a:endParaRPr lang="ko-KR" altLang="en-US" sz="1700" dirty="0"/>
          </a:p>
        </p:txBody>
      </p:sp>
      <p:sp>
        <p:nvSpPr>
          <p:cNvPr id="13" name="표시 ③"/>
          <p:cNvSpPr/>
          <p:nvPr/>
        </p:nvSpPr>
        <p:spPr>
          <a:xfrm>
            <a:off x="691571" y="5043664"/>
            <a:ext cx="625582" cy="327446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4" name="번호 ③"/>
          <p:cNvSpPr txBox="1"/>
          <p:nvPr/>
        </p:nvSpPr>
        <p:spPr>
          <a:xfrm>
            <a:off x="673283" y="476934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③</a:t>
            </a:r>
            <a:endParaRPr lang="ko-KR" altLang="en-US" sz="1700" dirty="0"/>
          </a:p>
        </p:txBody>
      </p:sp>
      <p:sp>
        <p:nvSpPr>
          <p:cNvPr id="15" name="표시 ④"/>
          <p:cNvSpPr/>
          <p:nvPr/>
        </p:nvSpPr>
        <p:spPr>
          <a:xfrm>
            <a:off x="5061395" y="5043664"/>
            <a:ext cx="1749981" cy="327446"/>
          </a:xfrm>
          <a:prstGeom prst="rect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6" name="번호 ④"/>
          <p:cNvSpPr txBox="1"/>
          <p:nvPr/>
        </p:nvSpPr>
        <p:spPr>
          <a:xfrm>
            <a:off x="5043107" y="476934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l" indent="0" marL="0">
              <a:buNone/>
            </a:pPr>
            <a:r>
              <a:rPr lang="ko-KR" altLang="en-US" sz="1700" b="1" dirty="0">
                <a:solidFill>
                  <a:srgbClr val="E8A33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④</a:t>
            </a:r>
            <a:endParaRPr lang="ko-KR" altLang="en-US" sz="1700" dirty="0"/>
          </a:p>
        </p:txBody>
      </p:sp>
      <p:sp>
        <p:nvSpPr>
          <p:cNvPr id="17" name="설명"/>
          <p:cNvSpPr txBox="1"/>
          <p:nvPr/>
        </p:nvSpPr>
        <p:spPr>
          <a:xfrm>
            <a:off x="7818120" y="1691640"/>
            <a:ext cx="3824935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① 매체 목록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첫 칸을 눌러 켜고 끄기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② 매체·주소 칸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예: www.aptn.co.kr (매체 칸은 비워도 됨)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③ ＋ 추가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/rss/allArticle.xml을 붙여 찾아 줌</a:t>
            </a:r>
            <a:endParaRPr lang="ko-KR" altLang="en-US" sz="1400" dirty="0"/>
          </a:p>
          <a:p>
            <a:pPr latinLnBrk="0" indent="0" marL="0">
              <a:spcBef>
                <a:spcPts val="1000"/>
              </a:spcBef>
              <a:buNone/>
            </a:pPr>
            <a:r>
              <a:rPr lang="ko-KR" altLang="en-US" sz="15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④ 연결 확인</a:t>
            </a:r>
            <a:endParaRPr lang="ko-KR" altLang="en-US" sz="1400" dirty="0"/>
          </a:p>
          <a:p>
            <a:pPr latinLnBrk="0" indent="0" marL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RSS가 받아지는지 바로 확인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06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문제 해결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이럴 때는 이렇게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상태줄이 빨갛게 바뀌면 오류입니다. 아래에서 찾아보세요</a:t>
            </a:r>
            <a:endParaRPr lang="ko-KR" alt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59375"/>
              </a:tblGrid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증상</a:t>
                      </a:r>
                      <a:endParaRPr lang="ko-KR" alt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원인</a:t>
                      </a:r>
                      <a:endParaRPr lang="ko-KR" alt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7"/>
                          <a:cs typeface="Pretendard SemiBold" pitchFamily="34" charset="-120"/>
                        </a:rPr>
                        <a:t>조치</a:t>
                      </a:r>
                      <a:endParaRPr lang="ko-KR" alt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처음 실행 때 윈도우 경고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코드 서명이 없는 프로그램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[추가 정보] → [실행], 또는 속성 → 차단 해제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업데이트 확인 실패 안내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GitHub 접속이 막힌 PC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공문 경로에서 새 exe를 받아 바꾸기(설정·기록 유지)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'호출이 너무 많습니다(429)'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짧은 시간에 구글에 많이 물음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잠시 뒤 다시 조회. 계속되면 키워드 줄이기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조회가 오래 걸림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키워드가 많음(지금 67개)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■ 정지 후 기간 줄이기, 효과 없는 키워드 빼기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'전문지 조회 실패: ○○'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RSS 주소가 바뀜·막힘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전문지 고르기에서 [연결 확인] → 주소 다시 찾기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엉뚱한 기사가 추천됨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규칙이 그날 기사와 안 맞음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결과 엑셀 → Claude 환류로 빼는 말(-○○) 추가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보고한 기사가 또 나옴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④ 보고 완료로 기록을 안 함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1E2A36"/>
                          </a:solidFill>
                          <a:latin typeface="Pretendard" pitchFamily="34" charset="0"/>
                          <a:ea typeface="Pretendard" pitchFamily="34" charset="-127"/>
                          <a:cs typeface="Pretendard" pitchFamily="34" charset="-120"/>
                        </a:rPr>
                        <a:t>보낸 뒤 꼭 기록. 지난 메일은 불러오기로</a:t>
                      </a:r>
                      <a:endParaRPr lang="ko-KR" alt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06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확인 필요 사항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b="1" dirty="0">
                <a:solidFill>
                  <a:srgbClr val="1F3B5C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확인 필요 사항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 매뉴얼에서 확인하지 못했거나 추정한 내용입니다</a:t>
            </a:r>
            <a:endParaRPr lang="ko-KR" altLang="en-US" sz="1200" dirty="0"/>
          </a:p>
        </p:txBody>
      </p:sp>
      <p:sp>
        <p:nvSpPr>
          <p:cNvPr id="7" name="카드 미확인 — 화면"/>
          <p:cNvSpPr/>
          <p:nvPr/>
        </p:nvSpPr>
        <p:spPr>
          <a:xfrm>
            <a:off x="548640" y="1691640"/>
            <a:ext cx="5431536" cy="2176272"/>
          </a:xfrm>
          <a:prstGeom prst="roundRect">
            <a:avLst>
              <a:gd name="adj" fmla="val 4202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pic>
        <p:nvPicPr>
          <p:cNvPr id="8" name="Image 0" descr="미확인 —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745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1288" y="18562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미확인 — 화면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313432"/>
            <a:ext cx="5029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윈도우 경고 창(설치 장), 그룹웨어 편지쓰기(메일 보내기 장)는 자동 촬영이 안 돼 자리표시자로 둠 — 담당자 PC에서 찍어 넣고 자리표시자 삭제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결과 엑셀 화면은 표로 대신함</a:t>
            </a:r>
            <a:endParaRPr lang="ko-KR" altLang="en-US" sz="1400" dirty="0"/>
          </a:p>
        </p:txBody>
      </p:sp>
      <p:sp>
        <p:nvSpPr>
          <p:cNvPr id="11" name="카드 (추정) — 시간·글꼴"/>
          <p:cNvSpPr/>
          <p:nvPr/>
        </p:nvSpPr>
        <p:spPr>
          <a:xfrm>
            <a:off x="6144768" y="1691640"/>
            <a:ext cx="5431536" cy="2176272"/>
          </a:xfrm>
          <a:prstGeom prst="roundRect">
            <a:avLst>
              <a:gd name="adj" fmla="val 4202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pic>
        <p:nvPicPr>
          <p:cNvPr id="12" name="Image 1" descr="(추정) — 시간·글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8745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57416" y="18562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(추정) — 시간·글꼴</a:t>
            </a:r>
            <a:endParaRPr lang="ko-KR" alt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345936" y="2313432"/>
            <a:ext cx="5029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조회 시간 1~2분은 키워드 67개 기준 추정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 PPT는 Pretendard 글꼴로 지정 — 글꼴이 없는 PC에서는 대체 글꼴로 보여 줄바꿈이 다를 수 있음(앱 저장소 assets/fonts 3종 설치)</a:t>
            </a:r>
            <a:endParaRPr lang="ko-KR" altLang="en-US" sz="1400" dirty="0"/>
          </a:p>
        </p:txBody>
      </p:sp>
      <p:sp>
        <p:nvSpPr>
          <p:cNvPr id="15" name="카드 시연 자료"/>
          <p:cNvSpPr/>
          <p:nvPr/>
        </p:nvSpPr>
        <p:spPr>
          <a:xfrm>
            <a:off x="548640" y="4023360"/>
            <a:ext cx="5431536" cy="2176272"/>
          </a:xfrm>
          <a:prstGeom prst="roundRect">
            <a:avLst>
              <a:gd name="adj" fmla="val 4202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pic>
        <p:nvPicPr>
          <p:cNvPr id="16" name="Image 2" descr="시연 자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062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61288" y="418795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시연 자료</a:t>
            </a:r>
            <a:endParaRPr lang="ko-KR" alt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" y="4645152"/>
            <a:ext cx="5029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화면 속 기사·건수·날짜는 설명용 시연 자료(실제 기사 아님)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앱 v1.0.8 기준 — 앱이 바뀌면 Actions 'manual'로 화면을 다시 찍어 갱신</a:t>
            </a:r>
            <a:endParaRPr lang="ko-KR" altLang="en-US" sz="1400" dirty="0"/>
          </a:p>
        </p:txBody>
      </p:sp>
      <p:sp>
        <p:nvSpPr>
          <p:cNvPr id="19" name="카드 전문지"/>
          <p:cNvSpPr/>
          <p:nvPr/>
        </p:nvSpPr>
        <p:spPr>
          <a:xfrm>
            <a:off x="6144768" y="4023360"/>
            <a:ext cx="5431536" cy="2176272"/>
          </a:xfrm>
          <a:prstGeom prst="roundRect">
            <a:avLst>
              <a:gd name="adj" fmla="val 4202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pic>
        <p:nvPicPr>
          <p:cNvPr id="20" name="Image 3" descr="전문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42062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57416" y="418795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전문지</a:t>
            </a:r>
            <a:endParaRPr lang="ko-KR" alt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345936" y="4645152"/>
            <a:ext cx="5029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대한경제·한국주택경제신문 RSS 주소 미확인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전기신문 RSS는 꺼 둠(전문지 고르기에서 켤 수 있음)</a:t>
            </a:r>
            <a:endParaRPr lang="ko-KR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KOHOM 뉴스룸 사용자 매뉴얼</dc:title>
  <dc:subject>PptxGenJS Presentation</dc:subject>
  <dc:creator>주택관리공단 전략과</dc:creator>
  <cp:lastModifiedBy>주택관리공단 전략과</cp:lastModifiedBy>
  <cp:revision>1</cp:revision>
  <dcterms:created xsi:type="dcterms:W3CDTF">2026-10-26T05:02:43Z</dcterms:created>
  <dcterms:modified xsi:type="dcterms:W3CDTF">2026-10-26T05:02:43Z</dcterms:modified>
</cp:coreProperties>
</file>